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2076450"/>
            <a:ext cx="59247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800"/>
              </a:spcAft>
              <a:buNone/>
            </a:pPr>
            <a:r>
              <a:rPr sz="1750" b="1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1750" b="1">
                <a:solidFill>
                  <a:srgbClr val="2563EB"/>
                </a:solidFill>
                <a:latin typeface="Arial"/>
              </a:rPr>
              <a:t>SIH26183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Problem Statement Title – </a:t>
            </a:r>
            <a:r>
              <a:rPr sz="1750" b="1">
                <a:solidFill>
                  <a:srgbClr val="334155"/>
                </a:solidFill>
                <a:latin typeface="Arial"/>
              </a:rPr>
              <a:t>Real-Time Identification of Fraud-Linked Cryptocurrency Exchanges &amp; Automated Attribution of Unknown Wallets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Theme – </a:t>
            </a:r>
            <a:r>
              <a:rPr sz="1750" b="1">
                <a:solidFill>
                  <a:srgbClr val="334155"/>
                </a:solidFill>
                <a:latin typeface="Arial"/>
              </a:rPr>
              <a:t>Blockchain &amp; Cybersecurity / Smart Automation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PS Category – </a:t>
            </a:r>
            <a:r>
              <a:rPr sz="1750" b="1">
                <a:solidFill>
                  <a:srgbClr val="334155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Team ID – </a:t>
            </a:r>
            <a:r>
              <a:rPr sz="1750" b="1">
                <a:solidFill>
                  <a:srgbClr val="334155"/>
                </a:solidFill>
                <a:latin typeface="Arial"/>
              </a:rPr>
              <a:t>SIH26183-T101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50" b="1">
                <a:solidFill>
                  <a:srgbClr val="0F172A"/>
                </a:solidFill>
                <a:latin typeface="Arial"/>
              </a:rPr>
              <a:t>• Team Name (Registered on portal) – </a:t>
            </a:r>
            <a:r>
              <a:rPr sz="1750" b="1">
                <a:solidFill>
                  <a:srgbClr val="0E7490"/>
                </a:solidFill>
                <a:latin typeface="Arial"/>
              </a:rPr>
              <a:t>Aegis trace</a:t>
            </a: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AEGIS-TRACE</a:t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1000">
                <a:solidFill>
                  <a:srgbClr val="FFFFFF"/>
                </a:solidFill>
                <a:latin typeface="Arial"/>
              </a:rPr>
              <a:t>SMART INDIA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Picture 106" descr="slide_2_proposed_solu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  <p:pic>
        <p:nvPicPr>
          <p:cNvPr id="108" name="Picture 107" descr="aegis_tra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164592"/>
            <a:ext cx="1298448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1000">
                <a:solidFill>
                  <a:srgbClr val="FFFFFF"/>
                </a:solidFill>
                <a:latin typeface="Arial"/>
              </a:rPr>
              <a:t>SMART INDIA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Picture 118" descr="technical_approach_ultra_h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  <p:pic>
        <p:nvPicPr>
          <p:cNvPr id="120" name="Picture 119" descr="aegis_tra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164592"/>
            <a:ext cx="1298448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1" sz="1000">
                <a:solidFill>
                  <a:srgbClr val="FFFFFF"/>
                </a:solidFill>
                <a:latin typeface="Arial"/>
              </a:rPr>
              <a:t>SMART INDIA HACKATHON 2026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Picture 130" descr="slide_4_feasibility_vi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  <p:pic>
        <p:nvPicPr>
          <p:cNvPr id="132" name="Picture 131" descr="aegis_tra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164592"/>
            <a:ext cx="1298448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1" sz="1000">
                <a:solidFill>
                  <a:srgbClr val="FFFFFF"/>
                </a:solidFill>
                <a:latin typeface="Arial"/>
              </a:rPr>
              <a:t>SMART INDIA HACKATHON 2026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Picture 142" descr="slide_5_impact_profit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  <p:pic>
        <p:nvPicPr>
          <p:cNvPr id="144" name="Picture 143" descr="aegis_tra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164592"/>
            <a:ext cx="1298448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1" sz="1000">
                <a:solidFill>
                  <a:srgbClr val="FFFFFF"/>
                </a:solidFill>
                <a:latin typeface="Arial"/>
              </a:rPr>
              <a:t>SMART INDIA HACKATHON 2026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Picture 154" descr="slide_6_research_referen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1207008"/>
            <a:ext cx="11420856" cy="5029200"/>
          </a:xfrm>
          <a:prstGeom prst="rect">
            <a:avLst/>
          </a:prstGeom>
        </p:spPr>
      </p:pic>
      <p:pic>
        <p:nvPicPr>
          <p:cNvPr id="156" name="Picture 155" descr="aegis_tra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164592"/>
            <a:ext cx="129844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