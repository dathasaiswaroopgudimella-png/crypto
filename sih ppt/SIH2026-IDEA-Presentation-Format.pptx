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97" name="Google Shape;9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09" name="Google Shape;10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21" name="Google Shape;12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33" name="Google Shape;13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45" name="Google Shape;14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ctrTitle"/>
          </p:nvPr>
        </p:nvSpPr>
        <p:spPr>
          <a:xfrm>
            <a:off x="914400" y="2130428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/>
          <p:nvPr>
            <p:ph type="title"/>
          </p:nvPr>
        </p:nvSpPr>
        <p:spPr>
          <a:xfrm>
            <a:off x="963084" y="4406903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4000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4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" type="body"/>
          </p:nvPr>
        </p:nvSpPr>
        <p:spPr>
          <a:xfrm>
            <a:off x="609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5"/>
          <p:cNvSpPr txBox="1"/>
          <p:nvPr>
            <p:ph idx="2" type="body"/>
          </p:nvPr>
        </p:nvSpPr>
        <p:spPr>
          <a:xfrm>
            <a:off x="6197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" type="body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6"/>
          <p:cNvSpPr txBox="1"/>
          <p:nvPr>
            <p:ph idx="2" type="body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6"/>
          <p:cNvSpPr txBox="1"/>
          <p:nvPr>
            <p:ph idx="3" type="body"/>
          </p:nvPr>
        </p:nvSpPr>
        <p:spPr>
          <a:xfrm>
            <a:off x="6193369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6"/>
          <p:cNvSpPr txBox="1"/>
          <p:nvPr>
            <p:ph idx="4" type="body"/>
          </p:nvPr>
        </p:nvSpPr>
        <p:spPr>
          <a:xfrm>
            <a:off x="6193369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/>
          <p:nvPr>
            <p:ph type="title"/>
          </p:nvPr>
        </p:nvSpPr>
        <p:spPr>
          <a:xfrm>
            <a:off x="609602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" type="body"/>
          </p:nvPr>
        </p:nvSpPr>
        <p:spPr>
          <a:xfrm>
            <a:off x="4766733" y="273053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609602" y="1435103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9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/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/>
          <p:nvPr>
            <p:ph idx="2" type="pic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3580606" y="-1875631"/>
            <a:ext cx="5030788" cy="1097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 rot="5400000">
            <a:off x="7285038" y="1828804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 rot="5400000">
            <a:off x="1697038" y="-812796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5656780" y="851521"/>
            <a:ext cx="4638605" cy="5154967"/>
          </a:xfrm>
          <a:custGeom>
            <a:rect b="b" l="l" r="r" t="t"/>
            <a:pathLst>
              <a:path extrusionOk="0" h="5154967" w="6184806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rgbClr val="7F7F7F">
              <a:alpha val="14902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0" name="Google Shape;90;p13"/>
          <p:cNvPicPr preferRelativeResize="0"/>
          <p:nvPr/>
        </p:nvPicPr>
        <p:blipFill rotWithShape="1">
          <a:blip r:embed="rId3">
            <a:alphaModFix/>
          </a:blip>
          <a:srcRect b="0" l="0" r="59916" t="0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3"/>
          <p:cNvSpPr txBox="1"/>
          <p:nvPr>
            <p:ph idx="1" type="subTitle"/>
          </p:nvPr>
        </p:nvSpPr>
        <p:spPr>
          <a:xfrm>
            <a:off x="1245686" y="648614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r>
              <a:t/>
            </a:r>
            <a:endParaRPr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b="1"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TITLE PAGE</a:t>
            </a:r>
            <a:endParaRPr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2" name="Google Shape;92;p13"/>
          <p:cNvSpPr txBox="1"/>
          <p:nvPr>
            <p:ph type="ctrTitle"/>
          </p:nvPr>
        </p:nvSpPr>
        <p:spPr>
          <a:xfrm>
            <a:off x="331286" y="-526757"/>
            <a:ext cx="10363200" cy="2076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chemeClr val="dk2"/>
                </a:solidFill>
                <a:latin typeface="Garamond"/>
                <a:ea typeface="Garamond"/>
                <a:cs typeface="Garamond"/>
                <a:sym typeface="Garamond"/>
              </a:rPr>
              <a:t>SMART INDIA HACKATHON 2026</a:t>
            </a:r>
            <a:endParaRPr b="1" sz="4000">
              <a:solidFill>
                <a:schemeClr val="dk2"/>
              </a:solidFill>
              <a:latin typeface="Garamond"/>
              <a:ea typeface="Garamond"/>
              <a:cs typeface="Garamond"/>
              <a:sym typeface="Garamond"/>
            </a:endParaRPr>
          </a:p>
        </p:txBody>
      </p:sp>
      <p:sp>
        <p:nvSpPr>
          <p:cNvPr id="93" name="Google Shape;93;p13"/>
          <p:cNvSpPr txBox="1"/>
          <p:nvPr/>
        </p:nvSpPr>
        <p:spPr>
          <a:xfrm>
            <a:off x="331286" y="2076450"/>
            <a:ext cx="59247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400"/>
              </a:spcBef>
              <a:spcAft>
                <a:spcPts val="800"/>
              </a:spcAft>
              <a:buNone/>
            </a:pPr>
            <a:r>
              <a:rPr sz="1750" b="1">
                <a:solidFill>
                  <a:srgbClr val="0F172A"/>
                </a:solidFill>
                <a:latin typeface="Arial"/>
              </a:rPr>
              <a:t>• Problem Statement ID – </a:t>
            </a:r>
            <a:r>
              <a:rPr sz="1750" b="1">
                <a:solidFill>
                  <a:srgbClr val="2563EB"/>
                </a:solidFill>
                <a:latin typeface="Arial"/>
              </a:rPr>
              <a:t>SIH26183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750" b="1">
                <a:solidFill>
                  <a:srgbClr val="0F172A"/>
                </a:solidFill>
                <a:latin typeface="Arial"/>
              </a:rPr>
              <a:t>• Problem Statement Title – </a:t>
            </a:r>
            <a:r>
              <a:rPr sz="1750" b="1">
                <a:solidFill>
                  <a:srgbClr val="334155"/>
                </a:solidFill>
                <a:latin typeface="Arial"/>
              </a:rPr>
              <a:t>Real-Time Identification of Fraud-Linked Cryptocurrency Exchanges &amp; Automated Attribution of Unknown Wallets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750" b="1">
                <a:solidFill>
                  <a:srgbClr val="0F172A"/>
                </a:solidFill>
                <a:latin typeface="Arial"/>
              </a:rPr>
              <a:t>• Theme – </a:t>
            </a:r>
            <a:r>
              <a:rPr sz="1750" b="1">
                <a:solidFill>
                  <a:srgbClr val="334155"/>
                </a:solidFill>
                <a:latin typeface="Arial"/>
              </a:rPr>
              <a:t>Blockchain &amp; Cybersecurity / Smart Automation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750" b="1">
                <a:solidFill>
                  <a:srgbClr val="0F172A"/>
                </a:solidFill>
                <a:latin typeface="Arial"/>
              </a:rPr>
              <a:t>• PS Category – </a:t>
            </a:r>
            <a:r>
              <a:rPr sz="1750" b="1">
                <a:solidFill>
                  <a:srgbClr val="334155"/>
                </a:solidFill>
                <a:latin typeface="Arial"/>
              </a:rPr>
              <a:t>Software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750" b="1">
                <a:solidFill>
                  <a:srgbClr val="0F172A"/>
                </a:solidFill>
                <a:latin typeface="Arial"/>
              </a:rPr>
              <a:t>• Team ID – </a:t>
            </a:r>
            <a:r>
              <a:rPr sz="1750" b="1">
                <a:solidFill>
                  <a:srgbClr val="334155"/>
                </a:solidFill>
                <a:latin typeface="Arial"/>
              </a:rPr>
              <a:t>SIH26183-T101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750" b="1">
                <a:solidFill>
                  <a:srgbClr val="0F172A"/>
                </a:solidFill>
                <a:latin typeface="Arial"/>
              </a:rPr>
              <a:t>• Team Name (Registered on portal) – </a:t>
            </a:r>
            <a:r>
              <a:rPr sz="1750" b="1">
                <a:solidFill>
                  <a:srgbClr val="0E7490"/>
                </a:solidFill>
                <a:latin typeface="Arial"/>
              </a:rPr>
              <a:t>Aegis trace</a:t>
            </a:r>
          </a:p>
        </p:txBody>
      </p:sp>
      <p:pic>
        <p:nvPicPr>
          <p:cNvPr id="94" name="Google Shape;94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4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4"/>
          <p:cNvSpPr txBox="1"/>
          <p:nvPr>
            <p:ph type="title"/>
          </p:nvPr>
        </p:nvSpPr>
        <p:spPr>
          <a:xfrm>
            <a:off x="182998" y="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b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IDEA TITLE</a:t>
            </a:r>
            <a:endParaRPr/>
          </a:p>
        </p:txBody>
      </p:sp>
      <p:sp>
        <p:nvSpPr>
          <p:cNvPr id="103" name="Google Shape;103;p14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sp>
        <p:nvSpPr>
          <p:cNvPr id="104" name="Google Shape;104;p14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@SIH Idea submission-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descr="Your startup LOGO" id="105" name="Google Shape;105;p14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AEGIS-TRACE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6" name="Google Shape;106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Picture 106" descr="slide_2_proposed_solu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11420856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TECHNICAL APPROACH</a:t>
            </a:r>
            <a:endParaRPr/>
          </a:p>
        </p:txBody>
      </p:sp>
      <p:sp>
        <p:nvSpPr>
          <p:cNvPr id="115" name="Google Shape;115;p15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sp>
        <p:nvSpPr>
          <p:cNvPr id="116" name="Google Shape;116;p15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@SIH Idea submission-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descr="Your startup LOGO" id="117" name="Google Shape;117;p15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AEGIS-TRACE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8" name="Google Shape;11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Picture 118" descr="slide_3_technical_approach_cris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11420856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6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6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FEASIBILITY AND VIABILITY</a:t>
            </a:r>
            <a:endParaRPr/>
          </a:p>
        </p:txBody>
      </p:sp>
      <p:sp>
        <p:nvSpPr>
          <p:cNvPr id="127" name="Google Shape;127;p16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28" name="Google Shape;128;p16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29" name="Google Shape;129;p16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AEGIS-TRACE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0" name="Google Shape;13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Picture 130" descr="slide_4_feasibility_via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11420856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7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IMPACT AND BENEFITS</a:t>
            </a:r>
            <a:endParaRPr/>
          </a:p>
        </p:txBody>
      </p:sp>
      <p:sp>
        <p:nvSpPr>
          <p:cNvPr id="139" name="Google Shape;139;p1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40" name="Google Shape;140;p17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41" name="Google Shape;141;p17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AEGIS-TRACE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2" name="Google Shape;14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Picture 142" descr="slide_5_impact_profita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11420856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8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8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RESEARCH  AND REFERENCES</a:t>
            </a:r>
            <a:endParaRPr/>
          </a:p>
        </p:txBody>
      </p:sp>
      <p:sp>
        <p:nvSpPr>
          <p:cNvPr id="151" name="Google Shape;151;p1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52" name="Google Shape;152;p18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53" name="Google Shape;153;p18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AEGIS-TRACE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4" name="Google Shape;154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Picture 154" descr="slide_6_research_referen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11420856" cy="5029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