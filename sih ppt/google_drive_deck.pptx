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09" name="Google Shape;10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21" name="Google Shape;12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33" name="Google Shape;13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45" name="Google Shape;14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57" name="Google Shape;15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914400" y="213042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/>
          <p:nvPr>
            <p:ph type="title"/>
          </p:nvPr>
        </p:nvSpPr>
        <p:spPr>
          <a:xfrm>
            <a:off x="963084" y="4406903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" type="body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5"/>
          <p:cNvSpPr txBox="1"/>
          <p:nvPr>
            <p:ph idx="2" type="body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6"/>
          <p:cNvSpPr txBox="1"/>
          <p:nvPr>
            <p:ph idx="3" type="body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6"/>
          <p:cNvSpPr txBox="1"/>
          <p:nvPr>
            <p:ph idx="4" type="body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3580606" y="-1875631"/>
            <a:ext cx="5030788" cy="109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7285038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1697038" y="-812796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5656780" y="851521"/>
            <a:ext cx="4638605" cy="5154967"/>
          </a:xfrm>
          <a:custGeom>
            <a:rect b="b" l="l" r="r" t="t"/>
            <a:pathLst>
              <a:path extrusionOk="0" h="5154967" w="6184806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rgbClr val="7F7F7F">
              <a:alpha val="14902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3"/>
          <p:cNvPicPr preferRelativeResize="0"/>
          <p:nvPr/>
        </p:nvPicPr>
        <p:blipFill rotWithShape="1">
          <a:blip r:embed="rId3">
            <a:alphaModFix/>
          </a:blip>
          <a:srcRect b="0" l="0" r="59916" t="0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3"/>
          <p:cNvSpPr txBox="1"/>
          <p:nvPr>
            <p:ph idx="1" type="subTitle"/>
          </p:nvPr>
        </p:nvSpPr>
        <p:spPr>
          <a:xfrm>
            <a:off x="1245686" y="648614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t/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b="1"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TITLE PAGE</a:t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2" name="Google Shape;92;p13"/>
          <p:cNvSpPr txBox="1"/>
          <p:nvPr>
            <p:ph type="ctrTitle"/>
          </p:nvPr>
        </p:nvSpPr>
        <p:spPr>
          <a:xfrm>
            <a:off x="331286" y="-526757"/>
            <a:ext cx="10363200" cy="2076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chemeClr val="dk2"/>
                </a:solidFill>
                <a:latin typeface="Garamond"/>
                <a:ea typeface="Garamond"/>
                <a:cs typeface="Garamond"/>
                <a:sym typeface="Garamond"/>
              </a:rPr>
              <a:t>SMART INDIA HACKATHON 2026</a:t>
            </a:r>
            <a:endParaRPr b="1" sz="4000">
              <a:solidFill>
                <a:schemeClr val="dk2"/>
              </a:solidFill>
              <a:latin typeface="Garamond"/>
              <a:ea typeface="Garamond"/>
              <a:cs typeface="Garamond"/>
              <a:sym typeface="Garamond"/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331286" y="2076450"/>
            <a:ext cx="59247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ID –SIH26183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Title-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Theme-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PS Category- Software/Hardware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ID-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Name (Registered on portal)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4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4"/>
          <p:cNvSpPr txBox="1"/>
          <p:nvPr>
            <p:ph type="title"/>
          </p:nvPr>
        </p:nvSpPr>
        <p:spPr>
          <a:xfrm>
            <a:off x="182998" y="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b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IDEA TITLE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-1" y="2064921"/>
            <a:ext cx="12191999" cy="24929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Noto Sans Symbols"/>
              <a:buChar char="❖"/>
            </a:pPr>
            <a:r>
              <a:rPr b="1" lang="en-US" sz="3200" u="sng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Proposed Solution (Describe your Idea/Solution/Prototype)</a:t>
            </a:r>
            <a:endParaRPr sz="3200" u="sng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15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sz="2000" u="sng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15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sz="2000" u="sng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Detailed explanation of the proposed solution</a:t>
            </a:r>
            <a:endParaRPr/>
          </a:p>
          <a:p>
            <a:pPr indent="-342900" lvl="0" marL="3429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How it addresses the problem</a:t>
            </a:r>
            <a:endParaRPr/>
          </a:p>
          <a:p>
            <a:pPr indent="-342900" lvl="0" marL="3429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Innovation and uniqueness of the solution </a:t>
            </a:r>
            <a:endParaRPr/>
          </a:p>
        </p:txBody>
      </p:sp>
      <p:sp>
        <p:nvSpPr>
          <p:cNvPr id="103" name="Google Shape;103;p1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04" name="Google Shape;104;p14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descr="Your startup LOGO" id="105" name="Google Shape;105;p14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6" name="Google Shape;10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TECHNICAL APPROACH</a:t>
            </a:r>
            <a:endParaRPr/>
          </a:p>
        </p:txBody>
      </p:sp>
      <p:sp>
        <p:nvSpPr>
          <p:cNvPr id="115" name="Google Shape;115;p1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16" name="Google Shape;116;p15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descr="Your startup LOGO" id="117" name="Google Shape;117;p15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" name="Google Shape;11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Picture 118" descr="technical_approach_ultra_h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1207008"/>
            <a:ext cx="11420856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6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FEASIBILITY AND VIABILITY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609600" y="2533653"/>
            <a:ext cx="9385300" cy="13849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Analysis of the feasibility of the idea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Potential challenges and risks</a:t>
            </a:r>
            <a:endParaRPr/>
          </a:p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Strategies</a:t>
            </a:r>
            <a:r>
              <a:rPr b="0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for overcoming these challenges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28" name="Google Shape;128;p16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29" name="Google Shape;129;p16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" name="Google Shape;13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7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IMPACT AND BENEFITS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609600" y="2533653"/>
            <a:ext cx="9385300" cy="13849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Potential impact on the target audience</a:t>
            </a:r>
            <a:endParaRPr/>
          </a:p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Benefits of the solution (social, economic, environmental, etc.)</a:t>
            </a:r>
            <a:endParaRPr/>
          </a:p>
        </p:txBody>
      </p:sp>
      <p:sp>
        <p:nvSpPr>
          <p:cNvPr id="139" name="Google Shape;139;p1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0" name="Google Shape;140;p17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41" name="Google Shape;141;p17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2" name="Google Shape;14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8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8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RESEARCH  AND REFERENCES</a:t>
            </a:r>
            <a:endParaRPr/>
          </a:p>
        </p:txBody>
      </p:sp>
      <p:sp>
        <p:nvSpPr>
          <p:cNvPr id="150" name="Google Shape;150;p18"/>
          <p:cNvSpPr txBox="1"/>
          <p:nvPr/>
        </p:nvSpPr>
        <p:spPr>
          <a:xfrm>
            <a:off x="609600" y="2795263"/>
            <a:ext cx="93853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Details / Links of the reference and research work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52" name="Google Shape;152;p18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53" name="Google Shape;153;p18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9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62" name="Google Shape;162;p19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63" name="Google Shape;163;p19"/>
          <p:cNvSpPr/>
          <p:nvPr/>
        </p:nvSpPr>
        <p:spPr>
          <a:xfrm>
            <a:off x="0" y="1791032"/>
            <a:ext cx="12192000" cy="4319200"/>
          </a:xfrm>
          <a:prstGeom prst="round2DiagRect">
            <a:avLst>
              <a:gd fmla="val 16667" name="adj1"/>
              <a:gd fmla="val 0" name="adj2"/>
            </a:avLst>
          </a:prstGeom>
          <a:solidFill>
            <a:srgbClr val="DAE5F1"/>
          </a:solidFill>
          <a:ln cap="flat" cmpd="sng" w="38100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9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514350" lvl="0" marL="514350" marR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Kindly keep the maximum slides limit up to six </a:t>
            </a:r>
            <a:r>
              <a:rPr b="1" i="0" lang="en-US" sz="18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(6). </a:t>
            </a: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 Including the title slide) 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Try to avoid paragraphs and post your idea in points /diagrams / Infographics /pictures 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Keep your explanation precise and easy to understand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Idea should be unique and novel. 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You can only use provided </a:t>
            </a:r>
            <a:r>
              <a:rPr b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template</a:t>
            </a: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for making the </a:t>
            </a:r>
            <a:r>
              <a:rPr b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PPT</a:t>
            </a: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without changing the idea details pointers (mentioned in previous slides).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You need to save the file in PDF and upload the same on portal. No PPT, Word Doc or any other format will be supported.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885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Note - You can delete this slide (Important Pointers) when you upload the details of your idea on SIH portal.</a:t>
            </a:r>
            <a:endParaRPr b="1" sz="18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6230" lvl="1" marL="914400" marR="0" rtl="0" algn="just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t/>
            </a:r>
            <a:endParaRPr b="1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9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IMPORTANT INSTRUCTIONS</a:t>
            </a:r>
            <a:endParaRPr b="1" sz="3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6" name="Google Shape;166;p19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Please ensure below pointers are met while submitting the Idea PPT: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" name="Google Shape;16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