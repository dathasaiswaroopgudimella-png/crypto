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656780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" type="subTitle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3"/>
          <p:cNvSpPr txBox="1"/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331286" y="2076450"/>
            <a:ext cx="5924700" cy="4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400"/>
              </a:spcBef>
              <a:spcAft>
                <a:spcPts val="800"/>
              </a:spcAft>
              <a:buNone/>
            </a:pPr>
            <a:r>
              <a:rPr sz="1750" b="1">
                <a:solidFill>
                  <a:srgbClr val="0F172A"/>
                </a:solidFill>
                <a:latin typeface="Arial"/>
              </a:rPr>
              <a:t>• Problem Statement ID – </a:t>
            </a:r>
            <a:r>
              <a:rPr sz="1750" b="1">
                <a:solidFill>
                  <a:srgbClr val="2563EB"/>
                </a:solidFill>
                <a:latin typeface="Arial"/>
              </a:rPr>
              <a:t>SIH26183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50" b="1">
                <a:solidFill>
                  <a:srgbClr val="0F172A"/>
                </a:solidFill>
                <a:latin typeface="Arial"/>
              </a:rPr>
              <a:t>• Problem Statement Title – </a:t>
            </a:r>
            <a:r>
              <a:rPr sz="1750" b="1">
                <a:solidFill>
                  <a:srgbClr val="334155"/>
                </a:solidFill>
                <a:latin typeface="Arial"/>
              </a:rPr>
              <a:t>Real-Time Identification of Fraud-Linked Cryptocurrency Exchanges &amp; Automated Attribution of Unknown Wallets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50" b="1">
                <a:solidFill>
                  <a:srgbClr val="0F172A"/>
                </a:solidFill>
                <a:latin typeface="Arial"/>
              </a:rPr>
              <a:t>• Theme – </a:t>
            </a:r>
            <a:r>
              <a:rPr sz="1750" b="1">
                <a:solidFill>
                  <a:srgbClr val="334155"/>
                </a:solidFill>
                <a:latin typeface="Arial"/>
              </a:rPr>
              <a:t>Blockchain &amp; Cybersecurity / Smart Automation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50" b="1">
                <a:solidFill>
                  <a:srgbClr val="0F172A"/>
                </a:solidFill>
                <a:latin typeface="Arial"/>
              </a:rPr>
              <a:t>• PS Category – </a:t>
            </a:r>
            <a:r>
              <a:rPr sz="1750" b="1">
                <a:solidFill>
                  <a:srgbClr val="334155"/>
                </a:solidFill>
                <a:latin typeface="Arial"/>
              </a:rPr>
              <a:t>Software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50" b="1">
                <a:solidFill>
                  <a:srgbClr val="0F172A"/>
                </a:solidFill>
                <a:latin typeface="Arial"/>
              </a:rPr>
              <a:t>• Team ID – </a:t>
            </a:r>
            <a:r>
              <a:rPr sz="1750" b="1">
                <a:solidFill>
                  <a:srgbClr val="334155"/>
                </a:solidFill>
                <a:latin typeface="Arial"/>
              </a:rPr>
              <a:t>SIH26183-T101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50" b="1">
                <a:solidFill>
                  <a:srgbClr val="0F172A"/>
                </a:solidFill>
                <a:latin typeface="Arial"/>
              </a:rPr>
              <a:t>• Team Name (Registered on portal) – </a:t>
            </a:r>
            <a:r>
              <a:rPr sz="1750" b="1">
                <a:solidFill>
                  <a:srgbClr val="0E7490"/>
                </a:solidFill>
                <a:latin typeface="Arial"/>
              </a:rPr>
              <a:t>Aegis trace</a:t>
            </a:r>
          </a:p>
        </p:txBody>
      </p:sp>
      <p:pic>
        <p:nvPicPr>
          <p:cNvPr id="94" name="Google Shape;9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0F172A"/>
                </a:solidFill>
                <a:latin typeface="Arial"/>
              </a:defRPr>
            </a:pPr>
            <a:r>
              <a:t>AEGIS-TRACE</a:t>
            </a:r>
            <a:endParaRPr/>
          </a:p>
        </p:txBody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4" name="Google Shape;104;p14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05" name="Google Shape;105;p14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AEGIS-TRACE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Picture 106" descr="slide_2_proposed_sol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207008"/>
            <a:ext cx="1142085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15" name="Google Shape;115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6" name="Google Shape;116;p15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17" name="Google Shape;117;p15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AEGIS-TRACE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Picture 118" descr="technical_approach_ultra_h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207008"/>
            <a:ext cx="1142085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27" name="Google Shape;127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8" name="Google Shape;128;p16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29" name="Google Shape;129;p16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AEGIS-TRACE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Picture 130" descr="slide_4_feasibility_viabi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207008"/>
            <a:ext cx="1142085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39" name="Google Shape;139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0" name="Google Shape;140;p17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41" name="Google Shape;141;p17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AEGIS-TRACE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Picture 142" descr="slide_5_impact_profitabi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207008"/>
            <a:ext cx="1142085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51" name="Google Shape;151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2" name="Google Shape;152;p18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53" name="Google Shape;153;p18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AEGIS-TRACE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Picture 154" descr="slide_6_research_referen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207008"/>
            <a:ext cx="11420856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